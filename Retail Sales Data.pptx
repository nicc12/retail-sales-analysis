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EB Garamon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BGaramond-regular.fntdata"/><Relationship Id="rId14" Type="http://schemas.openxmlformats.org/officeDocument/2006/relationships/slide" Target="slides/slide9.xml"/><Relationship Id="rId17" Type="http://schemas.openxmlformats.org/officeDocument/2006/relationships/font" Target="fonts/EBGaramond-italic.fntdata"/><Relationship Id="rId16" Type="http://schemas.openxmlformats.org/officeDocument/2006/relationships/font" Target="fonts/EBGaramo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EB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0d74327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0d74327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0d743271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0d743271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0d743271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0d743271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0d743271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0d743271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0d743271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0d743271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0d7432716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0d743271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0d7432716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0d743271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0d7432716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0d7432716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d7432716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0d7432716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7">
            <a:alpha val="80910"/>
          </a:srgbClr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0863" y="0"/>
            <a:ext cx="4663200" cy="8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Retail Sales Analysis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5" name="Google Shape;55;p13" title="65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3476" y="1648138"/>
            <a:ext cx="754723" cy="754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Costco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7787" y="2133018"/>
            <a:ext cx="982738" cy="55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Walmart_spark_(2025)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2866" y="3614856"/>
            <a:ext cx="592579" cy="66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Target_(2018)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89163" y="2885416"/>
            <a:ext cx="523370" cy="72943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type="ctrTitle"/>
          </p:nvPr>
        </p:nvSpPr>
        <p:spPr>
          <a:xfrm>
            <a:off x="4228200" y="4430075"/>
            <a:ext cx="49158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29289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Created by Nicholas Chavez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0" name="Google Shape;60;p13"/>
          <p:cNvSpPr txBox="1"/>
          <p:nvPr>
            <p:ph type="ctrTitle"/>
          </p:nvPr>
        </p:nvSpPr>
        <p:spPr>
          <a:xfrm>
            <a:off x="382800" y="678175"/>
            <a:ext cx="87612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33221"/>
              <a:buNone/>
            </a:pPr>
            <a:r>
              <a:rPr b="1" lang="en" sz="2980">
                <a:latin typeface="EB Garamond"/>
                <a:ea typeface="EB Garamond"/>
                <a:cs typeface="EB Garamond"/>
                <a:sym typeface="EB Garamond"/>
              </a:rPr>
              <a:t>Analysis of 4 major retail stores customer data</a:t>
            </a:r>
            <a:endParaRPr b="1" sz="298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7">
            <a:alpha val="80910"/>
          </a:srgbClr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-12" y="0"/>
            <a:ext cx="46632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Tools and Tech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66" name="Google Shape;66;p14" title="Microsoft-Power-BI-Symb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0675" y="3200125"/>
            <a:ext cx="2935777" cy="165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Microsoft_Excel_2013-2019_logo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1547" y="624875"/>
            <a:ext cx="1514026" cy="143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type="ctrTitle"/>
          </p:nvPr>
        </p:nvSpPr>
        <p:spPr>
          <a:xfrm>
            <a:off x="55000" y="1051650"/>
            <a:ext cx="4663200" cy="33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2176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●"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Excel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  <a:p>
            <a:pPr indent="-421767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○"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Power Query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  <a:p>
            <a:pPr indent="-421767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○"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Pivot Tables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  <a:p>
            <a:pPr indent="-421767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○"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Data Cleaning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  <a:p>
            <a:pPr indent="-42176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●"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Power BI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  <a:p>
            <a:pPr indent="-421767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○"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Data </a:t>
            </a: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Visualization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  <a:p>
            <a:pPr indent="-421767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Char char="○"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Dashboard creation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7">
            <a:alpha val="80910"/>
          </a:srgbClr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2240400" y="60875"/>
            <a:ext cx="46632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9289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Method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4" name="Google Shape;74;p15"/>
          <p:cNvSpPr txBox="1"/>
          <p:nvPr>
            <p:ph type="ctrTitle"/>
          </p:nvPr>
        </p:nvSpPr>
        <p:spPr>
          <a:xfrm>
            <a:off x="67200" y="613775"/>
            <a:ext cx="90768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42">
                <a:latin typeface="EB Garamond"/>
                <a:ea typeface="EB Garamond"/>
                <a:cs typeface="EB Garamond"/>
                <a:sym typeface="EB Garamond"/>
              </a:rPr>
              <a:t>Using Power Query I merged 3 of 4 datasets into One large Dataset</a:t>
            </a:r>
            <a:endParaRPr b="1" sz="2742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5" name="Google Shape;75;p15" title="65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826" y="2340575"/>
            <a:ext cx="754723" cy="754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Costco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825" y="3378343"/>
            <a:ext cx="982738" cy="55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Target_(2018)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2501" y="4214178"/>
            <a:ext cx="523370" cy="729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4-pq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403" y="3401278"/>
            <a:ext cx="635234" cy="552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15"/>
          <p:cNvCxnSpPr/>
          <p:nvPr/>
        </p:nvCxnSpPr>
        <p:spPr>
          <a:xfrm rot="10800000">
            <a:off x="4527109" y="2660108"/>
            <a:ext cx="0" cy="1942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5"/>
          <p:cNvSpPr/>
          <p:nvPr/>
        </p:nvSpPr>
        <p:spPr>
          <a:xfrm flipH="1" rot="10800000">
            <a:off x="4182550" y="2660100"/>
            <a:ext cx="323700" cy="47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1" name="Google Shape;81;p15"/>
          <p:cNvSpPr/>
          <p:nvPr/>
        </p:nvSpPr>
        <p:spPr>
          <a:xfrm flipH="1" rot="10800000">
            <a:off x="4527100" y="3607650"/>
            <a:ext cx="323700" cy="47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2" name="Google Shape;82;p15"/>
          <p:cNvSpPr/>
          <p:nvPr/>
        </p:nvSpPr>
        <p:spPr>
          <a:xfrm flipH="1" rot="10800000">
            <a:off x="4203400" y="4555200"/>
            <a:ext cx="323700" cy="47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3" name="Google Shape;83;p15"/>
          <p:cNvSpPr/>
          <p:nvPr/>
        </p:nvSpPr>
        <p:spPr>
          <a:xfrm>
            <a:off x="4527100" y="3524700"/>
            <a:ext cx="426300" cy="21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5588625" y="3524700"/>
            <a:ext cx="426300" cy="21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5" title="232351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4063" y="3313738"/>
            <a:ext cx="635226" cy="635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15"/>
          <p:cNvCxnSpPr/>
          <p:nvPr/>
        </p:nvCxnSpPr>
        <p:spPr>
          <a:xfrm rot="10800000">
            <a:off x="2861266" y="2660095"/>
            <a:ext cx="0" cy="1942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5"/>
          <p:cNvSpPr/>
          <p:nvPr/>
        </p:nvSpPr>
        <p:spPr>
          <a:xfrm rot="10800000">
            <a:off x="2882125" y="2660088"/>
            <a:ext cx="323700" cy="47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8" name="Google Shape;88;p15"/>
          <p:cNvSpPr/>
          <p:nvPr/>
        </p:nvSpPr>
        <p:spPr>
          <a:xfrm rot="10800000">
            <a:off x="2861275" y="4555188"/>
            <a:ext cx="323700" cy="47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89" name="Google Shape;89;p15" title="folder-22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57000" y="3277387"/>
            <a:ext cx="754700" cy="7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4850813" y="1721975"/>
            <a:ext cx="2236200" cy="13794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5" title="Screenshot 2026-02-26 104028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22786" y="2094061"/>
            <a:ext cx="1492264" cy="6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7">
            <a:alpha val="80910"/>
          </a:srgbClr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ctrTitle"/>
          </p:nvPr>
        </p:nvSpPr>
        <p:spPr>
          <a:xfrm>
            <a:off x="2240388" y="60875"/>
            <a:ext cx="46632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Method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7" name="Google Shape;97;p16"/>
          <p:cNvSpPr txBox="1"/>
          <p:nvPr>
            <p:ph type="ctrTitle"/>
          </p:nvPr>
        </p:nvSpPr>
        <p:spPr>
          <a:xfrm>
            <a:off x="67175" y="937475"/>
            <a:ext cx="5576700" cy="3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56831"/>
              <a:buNone/>
            </a:pP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In Power Query Editor I then cleaned the data:</a:t>
            </a:r>
            <a:endParaRPr b="1" sz="1742">
              <a:latin typeface="EB Garamond"/>
              <a:ea typeface="EB Garamond"/>
              <a:cs typeface="EB Garamond"/>
              <a:sym typeface="EB Garamond"/>
            </a:endParaRPr>
          </a:p>
          <a:p>
            <a:pPr indent="-3281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AutoNum type="arabicPeriod"/>
            </a:pP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Removed u</a:t>
            </a: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nneeded</a:t>
            </a: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 columns</a:t>
            </a:r>
            <a:endParaRPr b="1" sz="1742">
              <a:latin typeface="EB Garamond"/>
              <a:ea typeface="EB Garamond"/>
              <a:cs typeface="EB Garamond"/>
              <a:sym typeface="EB Garamond"/>
            </a:endParaRPr>
          </a:p>
          <a:p>
            <a:pPr indent="-3281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AutoNum type="arabicPeriod"/>
            </a:pP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Removed </a:t>
            </a: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retailer</a:t>
            </a: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 names from the contact column</a:t>
            </a:r>
            <a:endParaRPr b="1" sz="1742">
              <a:latin typeface="EB Garamond"/>
              <a:ea typeface="EB Garamond"/>
              <a:cs typeface="EB Garamond"/>
              <a:sym typeface="EB Garamond"/>
            </a:endParaRPr>
          </a:p>
          <a:p>
            <a:pPr indent="-3281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AutoNum type="arabicPeriod"/>
            </a:pP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Calculated how long it takes to </a:t>
            </a: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receive</a:t>
            </a: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 payment (renamed to days till payment)</a:t>
            </a:r>
            <a:endParaRPr b="1" sz="1742">
              <a:latin typeface="EB Garamond"/>
              <a:ea typeface="EB Garamond"/>
              <a:cs typeface="EB Garamond"/>
              <a:sym typeface="EB Garamond"/>
            </a:endParaRPr>
          </a:p>
          <a:p>
            <a:pPr indent="-3281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AutoNum type="arabicPeriod"/>
            </a:pP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Calculated a revenue column (renamed to revenue)</a:t>
            </a:r>
            <a:endParaRPr b="1" sz="1742">
              <a:latin typeface="EB Garamond"/>
              <a:ea typeface="EB Garamond"/>
              <a:cs typeface="EB Garamond"/>
              <a:sym typeface="EB Garamond"/>
            </a:endParaRPr>
          </a:p>
          <a:p>
            <a:pPr indent="-3281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AutoNum type="arabicPeriod"/>
            </a:pP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Changed monetary columns to the currency format</a:t>
            </a:r>
            <a:endParaRPr b="1" sz="1742">
              <a:latin typeface="EB Garamond"/>
              <a:ea typeface="EB Garamond"/>
              <a:cs typeface="EB Garamond"/>
              <a:sym typeface="EB Garamond"/>
            </a:endParaRPr>
          </a:p>
          <a:p>
            <a:pPr indent="-3281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AutoNum type="arabicPeriod"/>
            </a:pP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Separated region and state to separate columns</a:t>
            </a:r>
            <a:endParaRPr b="1" sz="1742">
              <a:latin typeface="EB Garamond"/>
              <a:ea typeface="EB Garamond"/>
              <a:cs typeface="EB Garamond"/>
              <a:sym typeface="EB Garamond"/>
            </a:endParaRPr>
          </a:p>
          <a:p>
            <a:pPr indent="-3281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AutoNum type="arabicPeriod"/>
            </a:pP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Renamed region to region and state to state</a:t>
            </a:r>
            <a:endParaRPr b="1" sz="1742">
              <a:latin typeface="EB Garamond"/>
              <a:ea typeface="EB Garamond"/>
              <a:cs typeface="EB Garamond"/>
              <a:sym typeface="EB Garamond"/>
            </a:endParaRPr>
          </a:p>
          <a:p>
            <a:pPr indent="-3281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EB Garamond"/>
              <a:buAutoNum type="arabicPeriod"/>
            </a:pPr>
            <a:r>
              <a:rPr b="1" lang="en" sz="1742">
                <a:latin typeface="EB Garamond"/>
                <a:ea typeface="EB Garamond"/>
                <a:cs typeface="EB Garamond"/>
                <a:sym typeface="EB Garamond"/>
              </a:rPr>
              <a:t>Close and loaded the data into an Excel Spreadsheet</a:t>
            </a:r>
            <a:endParaRPr b="1" sz="1742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42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8" name="Google Shape;98;p16" title="4-p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8407" y="376512"/>
            <a:ext cx="820267" cy="713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title="51433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5180" y="2571760"/>
            <a:ext cx="767023" cy="76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 title="23235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828" y="323307"/>
            <a:ext cx="820253" cy="82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 title="Screenshot 2026-02-26 11014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15652" y="1868175"/>
            <a:ext cx="1382325" cy="217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 title="Screenshot 2026-02-26 11020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14113" y="3758125"/>
            <a:ext cx="714825" cy="124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7672625" y="1231425"/>
            <a:ext cx="416700" cy="416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 rot="3433507">
            <a:off x="6778803" y="3910169"/>
            <a:ext cx="416744" cy="41674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7">
            <a:alpha val="80910"/>
          </a:srgbClr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ctrTitle"/>
          </p:nvPr>
        </p:nvSpPr>
        <p:spPr>
          <a:xfrm>
            <a:off x="2240400" y="60875"/>
            <a:ext cx="46632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9289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Method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0" name="Google Shape;110;p17"/>
          <p:cNvSpPr txBox="1"/>
          <p:nvPr>
            <p:ph type="ctrTitle"/>
          </p:nvPr>
        </p:nvSpPr>
        <p:spPr>
          <a:xfrm>
            <a:off x="67200" y="613775"/>
            <a:ext cx="9076800" cy="1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42">
                <a:latin typeface="EB Garamond"/>
                <a:ea typeface="EB Garamond"/>
                <a:cs typeface="EB Garamond"/>
                <a:sym typeface="EB Garamond"/>
              </a:rPr>
              <a:t>Add one last data set after cleaning, no problem with Power Query</a:t>
            </a:r>
            <a:endParaRPr b="1" sz="2742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1" name="Google Shape;111;p17" title="23235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2593" y="3185930"/>
            <a:ext cx="950374" cy="95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Walmart_spark_(2025)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1054" y="3338093"/>
            <a:ext cx="592579" cy="66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 title="folder-22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3262" y="3294775"/>
            <a:ext cx="754700" cy="7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/>
          <p:nvPr/>
        </p:nvSpPr>
        <p:spPr>
          <a:xfrm>
            <a:off x="3486850" y="3565463"/>
            <a:ext cx="426300" cy="21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4828063" y="3565475"/>
            <a:ext cx="426300" cy="21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4132138" y="1810800"/>
            <a:ext cx="2320800" cy="13545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7" title="Screenshot 2026-02-26 11132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1490" y="2110688"/>
            <a:ext cx="1142110" cy="7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4892603" y="2680675"/>
            <a:ext cx="576750" cy="196425"/>
          </a:xfrm>
          <a:custGeom>
            <a:rect b="b" l="l" r="r" t="t"/>
            <a:pathLst>
              <a:path extrusionOk="0" h="7857" w="23070">
                <a:moveTo>
                  <a:pt x="13067" y="0"/>
                </a:moveTo>
                <a:cubicBezTo>
                  <a:pt x="8513" y="0"/>
                  <a:pt x="-1255" y="227"/>
                  <a:pt x="185" y="4547"/>
                </a:cubicBezTo>
                <a:cubicBezTo>
                  <a:pt x="2383" y="11141"/>
                  <a:pt x="14516" y="6230"/>
                  <a:pt x="21024" y="3789"/>
                </a:cubicBezTo>
                <a:cubicBezTo>
                  <a:pt x="21661" y="3550"/>
                  <a:pt x="23222" y="3639"/>
                  <a:pt x="22918" y="3031"/>
                </a:cubicBezTo>
                <a:cubicBezTo>
                  <a:pt x="21505" y="208"/>
                  <a:pt x="16982" y="379"/>
                  <a:pt x="13825" y="379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7">
            <a:alpha val="80910"/>
          </a:srgbClr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ctrTitle"/>
          </p:nvPr>
        </p:nvSpPr>
        <p:spPr>
          <a:xfrm>
            <a:off x="2240400" y="60875"/>
            <a:ext cx="46632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9289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Method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0" y="710425"/>
            <a:ext cx="5910900" cy="28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 Excel I conduct Exploratory Data Analysis using Pivot tables and graphs: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Market share of revenue (Pie Chart)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Market share of unit’s sold (Pie Chart)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Count of each beverage brand by store (Bar Graph)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Revenue over the year 2022 (Line Chart)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50" y="3457412"/>
            <a:ext cx="2692401" cy="161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813" y="3457399"/>
            <a:ext cx="2698366" cy="161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9650" y="1684700"/>
            <a:ext cx="2692401" cy="161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9638" y="3457424"/>
            <a:ext cx="2692401" cy="1618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title="572677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46650" y="60875"/>
            <a:ext cx="1175400" cy="117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7">
            <a:alpha val="80910"/>
          </a:srgbClr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ctrTitle"/>
          </p:nvPr>
        </p:nvSpPr>
        <p:spPr>
          <a:xfrm>
            <a:off x="2240400" y="0"/>
            <a:ext cx="46632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9289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Method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5" name="Google Shape;135;p19"/>
          <p:cNvSpPr txBox="1"/>
          <p:nvPr>
            <p:ph type="ctrTitle"/>
          </p:nvPr>
        </p:nvSpPr>
        <p:spPr>
          <a:xfrm>
            <a:off x="33600" y="4029275"/>
            <a:ext cx="9076800" cy="1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36105"/>
              <a:buNone/>
            </a:pPr>
            <a:r>
              <a:rPr b="1" lang="en" sz="2742">
                <a:latin typeface="EB Garamond"/>
                <a:ea typeface="EB Garamond"/>
                <a:cs typeface="EB Garamond"/>
                <a:sym typeface="EB Garamond"/>
              </a:rPr>
              <a:t>With the new file I then load Power BI to fully Visualize what was found</a:t>
            </a:r>
            <a:endParaRPr b="1" sz="2742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6105"/>
              <a:buNone/>
            </a:pPr>
            <a:r>
              <a:t/>
            </a:r>
            <a:endParaRPr b="1" sz="2742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36105"/>
              <a:buNone/>
            </a:pPr>
            <a:r>
              <a:t/>
            </a:r>
            <a:endParaRPr b="1" sz="2742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36" name="Google Shape;136;p19" title="23235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6130" y="2096568"/>
            <a:ext cx="950374" cy="9503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/>
          <p:nvPr/>
        </p:nvSpPr>
        <p:spPr>
          <a:xfrm>
            <a:off x="4353463" y="2465088"/>
            <a:ext cx="426300" cy="21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19" title="Microsoft-Power-BI-Symb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7289" y="2165566"/>
            <a:ext cx="1444224" cy="812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7">
            <a:alpha val="80910"/>
          </a:srgbClr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ctrTitle"/>
          </p:nvPr>
        </p:nvSpPr>
        <p:spPr>
          <a:xfrm>
            <a:off x="2240400" y="0"/>
            <a:ext cx="46632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9289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Dashboard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44" name="Google Shape;144;p20" title="Microsoft-Power-BI-Symb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4331128"/>
            <a:ext cx="1444224" cy="81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2049" y="1268735"/>
            <a:ext cx="4538399" cy="2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0" y="710425"/>
            <a:ext cx="4572000" cy="28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 PowerBI I then created an interactive dashboard using the cleaned data which showed many statistics: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Graphs and Charts from Excel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New score cards of Averages and Sums separated by retailer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7">
            <a:alpha val="80910"/>
          </a:srgbClr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ctrTitle"/>
          </p:nvPr>
        </p:nvSpPr>
        <p:spPr>
          <a:xfrm>
            <a:off x="2240400" y="0"/>
            <a:ext cx="46632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9289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Findings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0" y="552900"/>
            <a:ext cx="91440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Through this analysis I was able to discover multiple insights: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Walmart </a:t>
            </a: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outperformed</a:t>
            </a: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all other retailers in revenue and units sold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Coca-Cola was the most sold beverage across all stores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Target had a spike of sales in October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3" name="Google Shape;153;p21"/>
          <p:cNvSpPr txBox="1"/>
          <p:nvPr>
            <p:ph type="ctrTitle"/>
          </p:nvPr>
        </p:nvSpPr>
        <p:spPr>
          <a:xfrm>
            <a:off x="2240400" y="2126700"/>
            <a:ext cx="46632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29289"/>
              <a:buNone/>
            </a:pPr>
            <a:r>
              <a:rPr b="1" lang="en" sz="3380">
                <a:latin typeface="EB Garamond"/>
                <a:ea typeface="EB Garamond"/>
                <a:cs typeface="EB Garamond"/>
                <a:sym typeface="EB Garamond"/>
              </a:rPr>
              <a:t>Caveats</a:t>
            </a:r>
            <a:endParaRPr b="1" sz="338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75775" y="2679600"/>
            <a:ext cx="9144000" cy="24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There exist key issues with this data that must be mentioned: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The data comes from 4 individual stores that are in 4 different states (Variance in market condition state to state should be acknowledged)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Target lack observations for November, therefore average revenue was substituted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9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2"/>
              <a:buFont typeface="EB Garamond"/>
              <a:buAutoNum type="arabicPeriod"/>
            </a:pPr>
            <a:r>
              <a:rPr b="1" lang="en" sz="1742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Data was limited to one year, (data include incomplete 2023 data, and said data was removed for the line chart)</a:t>
            </a:r>
            <a:endParaRPr b="1" sz="1742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